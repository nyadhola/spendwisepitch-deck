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365760"/>
            <a:ext cx="2194560" cy="2194560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94560"/>
            <a:ext cx="1280160" cy="1280160"/>
          </a:xfrm>
          <a:prstGeom prst="ellipse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108960"/>
            <a:ext cx="914400" cy="914400"/>
          </a:xfrm>
          <a:prstGeom prst="ellipse">
            <a:avLst/>
          </a:prstGeom>
          <a:solidFill>
            <a:srgbClr val="3A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DAF7EF"/>
                </a:solidFill>
                <a:latin typeface="Aptos"/>
              </a:defRPr>
            </a:pPr>
            <a:r>
              <a:t>POWER LEARN PROJECT  •  STARTUP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0408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SpendWise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6217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DAF7EF"/>
                </a:solidFill>
                <a:latin typeface="Aptos"/>
              </a:defRPr>
            </a:pPr>
            <a:r>
              <a:t>A simpler way to plan spending,</a:t>
            </a:r>
          </a:p>
          <a:p>
            <a:pPr>
              <a:spcAft>
                <a:spcPts val="700"/>
              </a:spcAft>
              <a:defRPr sz="2300" b="0">
                <a:solidFill>
                  <a:srgbClr val="DAF7EF"/>
                </a:solidFill>
                <a:latin typeface="Aptos"/>
              </a:defRPr>
            </a:pPr>
            <a:r>
              <a:t>track expenses, and reach savings goals.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069080"/>
            <a:ext cx="1005840" cy="64008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59436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Founder: Christine Peter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First-draft pitch deck |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263640"/>
            <a:ext cx="6583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8CBE0"/>
                </a:solidFill>
                <a:latin typeface="Aptos"/>
              </a:defRPr>
            </a:pPr>
            <a:r>
              <a:t>Small steps with money. Stronger financial confidence.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Managing everyday money can be harder than it should 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90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82296" cy="21031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Spending is hard to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3017520" cy="1417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Small daily purchases add up, but people may not record them consistently.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82296" cy="2103120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Budgets are easy to 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017520" cy="1417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Notes and mental calculations make it difficult to see what remains.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290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82296" cy="2103120"/>
          </a:xfrm>
          <a:prstGeom prst="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Goals feel far 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3017520" cy="1417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Without a clear plan, saving for school, emergencies, or a project can be challenging.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22340"/>
                </a:solidFill>
                <a:latin typeface="Aptos"/>
              </a:defRPr>
            </a:pPr>
            <a:r>
              <a:t>The result: less clarity, more money stress, and missed opportunities to save.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SpendWise makes budgeting clear, practical, and easy to repeat.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901952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58521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041"/>
                </a:solidFill>
                <a:latin typeface="Aptos"/>
              </a:defRPr>
            </a:pPr>
            <a:r>
              <a:t>Set a budget for the month or week.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15184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42032"/>
            <a:ext cx="58521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041"/>
                </a:solidFill>
                <a:latin typeface="Aptos"/>
              </a:defRPr>
            </a:pPr>
            <a:r>
              <a:t>Record expenses by category.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28416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8521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041"/>
                </a:solidFill>
                <a:latin typeface="Aptos"/>
              </a:defRPr>
            </a:pPr>
            <a:r>
              <a:t>See the remaining balance at a glance.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041648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68496"/>
            <a:ext cx="58521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041"/>
                </a:solidFill>
                <a:latin typeface="Aptos"/>
              </a:defRPr>
            </a:pPr>
            <a:r>
              <a:t>Get simple alerts when spending is close to the limit.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54880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681728"/>
            <a:ext cx="58521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041"/>
                </a:solidFill>
                <a:latin typeface="Aptos"/>
              </a:defRPr>
            </a:pPr>
            <a:r>
              <a:t>Track savings goals and build better habits.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828800"/>
            <a:ext cx="3291840" cy="320040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148840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DAF7EF"/>
                </a:solidFill>
                <a:latin typeface="Aptos"/>
              </a:defRPr>
            </a:pPr>
            <a:r>
              <a:t>YOUR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697480"/>
            <a:ext cx="26517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Plan  • 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337560"/>
            <a:ext cx="26517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F5B842"/>
                </a:solidFill>
                <a:latin typeface="Aptos"/>
              </a:defRPr>
            </a:pPr>
            <a:r>
              <a:t>Review  •  Save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60520"/>
            <a:ext cx="2560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DAF7EF"/>
                </a:solidFill>
                <a:latin typeface="Aptos"/>
              </a:defRPr>
            </a:pPr>
            <a:r>
              <a:t>Clarity in every choice.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The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A lightweight digital budgeting tool designed for everyday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4008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6400800" cy="50292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SpendWise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5E6D80"/>
                </a:solidFill>
                <a:latin typeface="Aptos"/>
              </a:defRPr>
            </a:pPr>
            <a:r>
              <a:t>Monthly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22340"/>
                </a:solidFill>
                <a:latin typeface="Aptos"/>
              </a:defRPr>
            </a:pPr>
            <a:r>
              <a:t>KES 20,000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5176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5E6D80"/>
                </a:solidFill>
                <a:latin typeface="Aptos"/>
              </a:defRPr>
            </a:pPr>
            <a:r>
              <a:t>Remaining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7180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A096"/>
                </a:solidFill>
                <a:latin typeface="Aptos"/>
              </a:defRPr>
            </a:pPr>
            <a:r>
              <a:t>KES 8,450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657600"/>
            <a:ext cx="5303520" cy="164592"/>
          </a:xfrm>
          <a:prstGeom prst="roundRect">
            <a:avLst/>
          </a:prstGeom>
          <a:solidFill>
            <a:srgbClr val="D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3657600"/>
            <a:ext cx="3063240" cy="164592"/>
          </a:xfrm>
          <a:prstGeom prst="round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39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E6D80"/>
                </a:solidFill>
                <a:latin typeface="Aptos"/>
              </a:defRPr>
            </a:pPr>
            <a:r>
              <a:t>Example progress bar — illustrative figures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Food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38912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KES 4,000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6344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KES 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59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Bills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937759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KES 5,050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0" y="2130552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057400"/>
            <a:ext cx="320040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41"/>
                </a:solidFill>
                <a:latin typeface="Aptos"/>
              </a:defRPr>
            </a:pPr>
            <a:r>
              <a:t>Simple dashboard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0" y="2788920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2715768"/>
            <a:ext cx="320040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41"/>
                </a:solidFill>
                <a:latin typeface="Aptos"/>
              </a:defRPr>
            </a:pPr>
            <a:r>
              <a:t>Expense categories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0" y="3447288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374136"/>
            <a:ext cx="320040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41"/>
                </a:solidFill>
                <a:latin typeface="Aptos"/>
              </a:defRPr>
            </a:pPr>
            <a:r>
              <a:t>Budget calculations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0" y="4105656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032504"/>
            <a:ext cx="320040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41"/>
                </a:solidFill>
                <a:latin typeface="Aptos"/>
              </a:defRPr>
            </a:pPr>
            <a:r>
              <a:t>Mobile-friendly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89204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E6D80"/>
                </a:solidFill>
                <a:latin typeface="Aptos"/>
              </a:defRPr>
            </a:pPr>
            <a:r>
              <a:t>Prototype concept — not live user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Target Customers &amp;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Start with people who need a simple, low-cost way to manage limited income.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29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82296" cy="237744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Students &amp; learners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301752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Plan allowances, transport, food, and school-related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82296" cy="2377440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Early-career 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01752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Balance monthly income, bills, savings, and personal spending.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429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82296" cy="2377440"/>
          </a:xfrm>
          <a:prstGeom prst="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933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Small-income households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301752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Understand household spending and prepare for upcoming needs.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Initial market: Kenya-based users who prefer accessible digital tools and practical money guidance.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E6D80"/>
                </a:solidFill>
                <a:latin typeface="Aptos"/>
              </a:defRPr>
            </a:pPr>
            <a:r>
              <a:t>Market sizing will be validated through interviews, surveys, and early product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Build trust with a useful free version, then offer optional upgrades.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3375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82296" cy="246888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Free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2926079" cy="1783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Core budgeting, expense tracking, and one or more savings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82296" cy="2468880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Premium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2926079" cy="1783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Possible future features: advanced reports, multiple budgets, and goal insights.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375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82296" cy="2468880"/>
          </a:xfrm>
          <a:prstGeom prst="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Partner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2926079" cy="1783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Explore ethical partnerships with learning communities and financial-literacy programmes.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10058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Pricing and willingness to pay are assumptions to test—not confirmed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Progress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The next step is to test the problem and solution with real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3375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82296" cy="214884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Built so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292607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A learning-stage web app concept with a dashboard and budgeting features being developed.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82296" cy="2148840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Validate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292607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Interview 10–15 potential users about how they currently track money and what frustrates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375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82296" cy="2148840"/>
          </a:xfrm>
          <a:prstGeom prst="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Pilot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292607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Invite a small group to try the prototype and collect feedback on usability and usefulness.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17720"/>
            <a:ext cx="10058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5E6D80"/>
                </a:solidFill>
                <a:latin typeface="Aptos"/>
              </a:defRPr>
            </a:pPr>
            <a:r>
              <a:t>No user numbers or revenue are claimed yet. Early success will be measured through interviews, active use, and repeat expense entries.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Competition &amp;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SpendWise aims to win through simplicity and local relevance.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2011680" cy="50292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920240"/>
            <a:ext cx="17922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3200400" cy="50292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920240"/>
            <a:ext cx="29809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4754880" cy="50292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920240"/>
            <a:ext cx="4535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Gap SpendWise can 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468880"/>
            <a:ext cx="2011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2587752"/>
            <a:ext cx="17922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3041"/>
                </a:solidFill>
                <a:latin typeface="Aptos"/>
              </a:defRPr>
            </a:pPr>
            <a:r>
              <a:t>Paper /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2468880"/>
            <a:ext cx="32004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2587752"/>
            <a:ext cx="298094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Easy to 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68880"/>
            <a:ext cx="4754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587752"/>
            <a:ext cx="45354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Hard to total, review, and spot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273552"/>
            <a:ext cx="2011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3392424"/>
            <a:ext cx="17922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3041"/>
                </a:solidFill>
                <a:latin typeface="Aptos"/>
              </a:defRPr>
            </a:pPr>
            <a:r>
              <a:t>Spreadsheets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3273552"/>
            <a:ext cx="32004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72968" y="3392424"/>
            <a:ext cx="298094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Flexible and detailed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273552"/>
            <a:ext cx="4754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392424"/>
            <a:ext cx="45354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Can feel complex on a phone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078224"/>
            <a:ext cx="2011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7" y="4197096"/>
            <a:ext cx="17922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3041"/>
                </a:solidFill>
                <a:latin typeface="Aptos"/>
              </a:defRPr>
            </a:pPr>
            <a:r>
              <a:t>General finance apps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4078224"/>
            <a:ext cx="32004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2968" y="4197096"/>
            <a:ext cx="298094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Many advanced 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078224"/>
            <a:ext cx="4754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4197096"/>
            <a:ext cx="45354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May not fit every beginner's needs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058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00A096"/>
                </a:solidFill>
                <a:latin typeface="Aptos"/>
              </a:defRPr>
            </a:pPr>
            <a:r>
              <a:t>Differentiator to test: beginner-friendly budgeting, clear categories, and an experience designed around everyday spending.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Reach early users through communities where budgeting is already relevant.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901952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63093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Pilot with fellow learners, students, and early-career workers.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15184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42032"/>
            <a:ext cx="63093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Share short budgeting tips and product demonstrations on social media.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28416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63093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Partner with schools, training groups, and community programmes.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041648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68496"/>
            <a:ext cx="63093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Use feedback and referrals to improve onboarding and retention.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54880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681728"/>
            <a:ext cx="63093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Track sign-ups, first budget created, repeat use, and user referrals.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965960"/>
            <a:ext cx="2560320" cy="3063240"/>
          </a:xfrm>
          <a:prstGeom prst="roundRect">
            <a:avLst/>
          </a:prstGeom>
          <a:solidFill>
            <a:srgbClr val="D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2340"/>
                </a:solidFill>
                <a:latin typeface="Aptos"/>
              </a:defRPr>
            </a:pPr>
            <a:r>
              <a:t>FIRST 90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20116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0A096"/>
                </a:solidFill>
                <a:latin typeface="Aptos"/>
              </a:defRPr>
            </a:pPr>
            <a:r>
              <a:t>Listen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00A096"/>
                </a:solidFill>
                <a:latin typeface="Aptos"/>
              </a:defRPr>
            </a:pPr>
            <a:r>
              <a:t>Build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00A096"/>
                </a:solidFill>
                <a:latin typeface="Aptos"/>
              </a:defRPr>
            </a:pPr>
            <a:r>
              <a:t>Pilot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00A096"/>
                </a:solidFill>
                <a:latin typeface="Aptos"/>
              </a:defRPr>
            </a:pPr>
            <a:r>
              <a:t>Improve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A founder-led project supported by learning, feedback, and collaboration.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834640" cy="3108960"/>
          </a:xfrm>
          <a:prstGeom prst="round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2148840"/>
            <a:ext cx="1005840" cy="1005840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450592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9000"/>
            <a:ext cx="2194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Christine Peter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77639"/>
            <a:ext cx="2194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DAF7EF"/>
                </a:solidFill>
                <a:latin typeface="Aptos"/>
              </a:defRPr>
            </a:pPr>
            <a:r>
              <a:t>Founder &amp; learner developer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039112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6217920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Developing web development and programming skills through PLP.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2788920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715768"/>
            <a:ext cx="6217920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Building the SpendWise concept as a practical learning project.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3538728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465576"/>
            <a:ext cx="6217920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Seeking user feedback and mentorship to strengthen the product.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4288536"/>
            <a:ext cx="146304" cy="146304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215383"/>
            <a:ext cx="6217920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1"/>
                </a:solidFill>
                <a:latin typeface="Aptos"/>
              </a:defRPr>
            </a:pPr>
            <a:r>
              <a:t>Future needs: product design, financial-literacy advice, and technical mentorship.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349240"/>
            <a:ext cx="6400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Add team members and relevant experience as the project grows.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340"/>
                </a:solidFill>
                <a:latin typeface="Aptos"/>
              </a:defRPr>
            </a:pPr>
            <a:r>
              <a:t>Financial Plan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Use a lean approach and validate costs before 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SPENDWISE  |  PLP PITCH DECK — FIRST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D80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82296" cy="205740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Main cost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2926079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Hosting and domain, product development, user testing, and outreach.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82296" cy="2057400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Potential 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2926079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Optional subscriptions or carefully chosen partnerships after user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82296" cy="2057400"/>
          </a:xfrm>
          <a:prstGeom prst="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29260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Key milestones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2926079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E6D80"/>
                </a:solidFill>
                <a:latin typeface="Aptos"/>
              </a:defRPr>
            </a:pPr>
            <a:r>
              <a:t>Prototype → user interviews → pilot → improve → test pricing.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22340"/>
                </a:solidFill>
                <a:latin typeface="Aptos"/>
              </a:defRPr>
            </a:pPr>
            <a:r>
              <a:t>Illustrative 6-month roadmap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120640"/>
            <a:ext cx="9692640" cy="73152"/>
          </a:xfrm>
          <a:prstGeom prst="round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83080" y="4956048"/>
            <a:ext cx="384048" cy="384048"/>
          </a:xfrm>
          <a:prstGeom prst="ellipse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4068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22340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1500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0" y="4956048"/>
            <a:ext cx="384048" cy="384048"/>
          </a:xfrm>
          <a:prstGeom prst="ellipse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544068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22340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71500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4956048"/>
            <a:ext cx="384048" cy="384048"/>
          </a:xfrm>
          <a:prstGeom prst="ellipse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544068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22340"/>
                </a:solidFill>
                <a:latin typeface="Aptos"/>
              </a:defRPr>
            </a:pPr>
            <a:r>
              <a:t>M3–4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71500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956048"/>
            <a:ext cx="384048" cy="384048"/>
          </a:xfrm>
          <a:prstGeom prst="ellipse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544068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22340"/>
                </a:solidFill>
                <a:latin typeface="Aptos"/>
              </a:defRPr>
            </a:pPr>
            <a:r>
              <a:t>M5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71500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3" name="Oval 32"/>
          <p:cNvSpPr/>
          <p:nvPr/>
        </p:nvSpPr>
        <p:spPr>
          <a:xfrm>
            <a:off x="11109959" y="4956048"/>
            <a:ext cx="384048" cy="384048"/>
          </a:xfrm>
          <a:prstGeom prst="ellipse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9" y="544068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22340"/>
                </a:solidFill>
                <a:latin typeface="Aptos"/>
              </a:defRPr>
            </a:pPr>
            <a:r>
              <a:t>M6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9" y="571500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D80"/>
                </a:solidFill>
                <a:latin typeface="Aptos"/>
              </a:defRPr>
            </a:pPr>
            <a:r>
              <a:t>Pricing 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DAF7EF"/>
                </a:solidFill>
                <a:latin typeface="Aptos"/>
              </a:defRPr>
            </a:pPr>
            <a:r>
              <a:t>12  | 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498079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Help us make money management simpler.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920240"/>
            <a:ext cx="868680" cy="64008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612648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AF7EF"/>
                </a:solidFill>
                <a:latin typeface="Aptos"/>
              </a:defRPr>
            </a:pPr>
            <a:r>
              <a:t>We are looking for:</a:t>
            </a:r>
          </a:p>
          <a:p>
            <a:pPr>
              <a:spcAft>
                <a:spcPts val="700"/>
              </a:spcAft>
              <a:defRPr sz="1800" b="0">
                <a:solidFill>
                  <a:srgbClr val="DAF7EF"/>
                </a:solidFill>
                <a:latin typeface="Aptos"/>
              </a:defRPr>
            </a:pPr>
            <a:r>
              <a:t>• 10–15 people to interview</a:t>
            </a:r>
          </a:p>
          <a:p>
            <a:pPr>
              <a:spcAft>
                <a:spcPts val="700"/>
              </a:spcAft>
              <a:defRPr sz="1800" b="0">
                <a:solidFill>
                  <a:srgbClr val="DAF7EF"/>
                </a:solidFill>
                <a:latin typeface="Aptos"/>
              </a:defRPr>
            </a:pPr>
            <a:r>
              <a:t>• Mentors to review the prototype</a:t>
            </a:r>
          </a:p>
          <a:p>
            <a:pPr>
              <a:spcAft>
                <a:spcPts val="700"/>
              </a:spcAft>
              <a:defRPr sz="1800" b="0">
                <a:solidFill>
                  <a:srgbClr val="DAF7EF"/>
                </a:solidFill>
                <a:latin typeface="Aptos"/>
              </a:defRPr>
            </a:pPr>
            <a:r>
              <a:t>• Pilot users to test the first version</a:t>
            </a:r>
          </a:p>
          <a:p>
            <a:pPr>
              <a:spcAft>
                <a:spcPts val="700"/>
              </a:spcAft>
              <a:defRPr sz="1800" b="0">
                <a:solidFill>
                  <a:srgbClr val="DAF7EF"/>
                </a:solidFill>
                <a:latin typeface="Aptos"/>
              </a:defRPr>
            </a:pPr>
            <a:r>
              <a:t>• Feedback on partnerships and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08760"/>
            <a:ext cx="3200400" cy="3154680"/>
          </a:xfrm>
          <a:prstGeom prst="roundRect">
            <a:avLst/>
          </a:prstGeom>
          <a:solidFill>
            <a:srgbClr val="1F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965960"/>
            <a:ext cx="2560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SPENDWISE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651760"/>
            <a:ext cx="25603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5B842"/>
                </a:solidFill>
                <a:latin typeface="Aptos"/>
              </a:defRPr>
            </a:pPr>
            <a:r>
              <a:t>Plan better.</a:t>
            </a:r>
          </a:p>
          <a:p>
            <a:pPr algn="ctr">
              <a:spcAft>
                <a:spcPts val="700"/>
              </a:spcAft>
              <a:defRPr sz="1800" b="1">
                <a:solidFill>
                  <a:srgbClr val="F5B842"/>
                </a:solidFill>
                <a:latin typeface="Aptos"/>
              </a:defRPr>
            </a:pPr>
            <a:r>
              <a:t>Spend wisely.</a:t>
            </a:r>
          </a:p>
          <a:p>
            <a:pPr algn="ctr">
              <a:spcAft>
                <a:spcPts val="700"/>
              </a:spcAft>
              <a:defRPr sz="1800" b="1">
                <a:solidFill>
                  <a:srgbClr val="F5B842"/>
                </a:solidFill>
                <a:latin typeface="Aptos"/>
              </a:defRPr>
            </a:pPr>
            <a:r>
              <a:t>Save with purpose.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6949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Thank you | Christine Peter | Power Learn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BE0"/>
                </a:solidFill>
                <a:latin typeface="Aptos"/>
              </a:defRPr>
            </a:pPr>
            <a:r>
              <a:t>Contact: add your preferred email or phone before sharing externally.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